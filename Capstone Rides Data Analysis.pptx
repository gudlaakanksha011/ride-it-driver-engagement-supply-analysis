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57F6882-033F-422F-BF48-5C7AC7C2BB76}">
          <p14:sldIdLst>
            <p14:sldId id="256"/>
            <p14:sldId id="257"/>
            <p14:sldId id="258"/>
          </p14:sldIdLst>
        </p14:section>
        <p14:section name="Untitled Section" id="{03C826A3-B582-4E31-BB62-5D786CDCD32F}">
          <p14:sldIdLst>
            <p14:sldId id="260"/>
            <p14:sldId id="259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28B4-4E85-873F-8FF9-DBCFDB554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6DFF2-AD1E-F301-7B85-FED1CF378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B2F1C-01F5-D84D-6EF2-A11783045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9D41A-0589-14BA-3EE2-2E3453CC0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C6383-7E8C-74F5-AE4D-34B9DDFCF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08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3637-7FC5-87C8-3606-41D37D05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8736C-EBD4-DBAD-A513-A42CA6E73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17B5-D1C9-9652-C71F-63133A6BF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AA82B-BF9E-3EF2-BAA3-446A2417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CB90C-AFFA-0D85-BDFA-DD92EE75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08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285AB-5789-A599-3189-EDA32030F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BBCB5-00FB-89EA-46F6-EF707344E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129CF-8F6B-A607-6DFB-71F4E5284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B499C-285C-164D-7052-763B6E8F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4CAE5-C32A-F25F-2E33-3ECB38A8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23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C6BC4-6FCD-AF55-F3FE-16B491FB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76D31-D818-C760-141C-DC1CD24E7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46389-F126-CEFF-B07B-9CCAD4AF7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13EB1-CB4E-4FCA-D6D7-0B3199EB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0C7A0-DC44-8399-5062-89C6E2BE0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8EB5E-1701-556C-40DF-9C43A8A3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835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B94A6-93A8-C73E-96A5-98ED78FC9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618C2-574E-F8CC-6541-1A23F76BF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61469-E8AC-0B91-4ADB-2379EB40E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809534-5EC3-E652-1997-1012FE0A5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6661F-E362-2969-57A6-7F8B87F58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A6A441-1458-E2CE-2F71-CFD0194EE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00EA5F-C1D2-FB9A-6C74-753BA623D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CB8440-BC6D-A1C6-F5FF-6DAB7188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74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9701-7145-BE1E-F8E4-4BAAF4E51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69942-CD3B-D6F0-FAA7-A8EF8AC0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A1835-B60B-8FE0-DEF0-CD7128DD5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2F6F2-AD9A-5AD1-DA05-FA3F1E4F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24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1E574-C7A9-ED60-2CDA-62958B6C1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682C2-A5DB-2E58-9E85-0F22BD0A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9F469-E520-C568-5995-839628337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632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C08E-7A27-F569-A73C-0A6002EF0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29646-9F21-7087-458B-AFF50B4A7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BAF0E-7FA6-DCE4-588E-AC1879AA1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B7980-BB08-8433-A3A1-5A1FA13B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23CBA-353B-B5C9-B843-FC75777D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16C85-A96E-53B4-1618-3119003C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0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43EC-48EA-9AB5-1C80-5CB343CC8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2D5D06-F662-50C0-15BF-935D579F8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4F71E-F4F2-17AC-9607-82AD71D7E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CC5CD-1601-401F-D7A4-33F1CFD2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78221-6E00-CABB-3214-6236C2A2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489BF-26BA-EE5B-F140-FA059AC1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372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A5125-03E7-83C3-1184-93E81E48C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BF0D7-8F21-E713-D90A-4441A37EC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B7CAE-AF57-4EED-ADE3-E050413A2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9B88F-E7E9-4AB7-49AE-D475BDC59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D9367-8059-BEED-A6E1-9031FA73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0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3E02C4-335D-ECE2-E2DF-4BB74FF53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DE9B4-59A8-6D44-6C09-854B84F10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BAF7D-06EB-2CC1-6F97-C10D7787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D2F09-C2BA-C301-308A-F9DD9778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92C10-4A8C-4108-8A34-68E1BF2DF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97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51F72B-E15E-6942-11A4-7EF17E529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72FB4-485F-FECA-51A8-9D44C3E35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B5707-2D93-CAAF-0B20-314C4E034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B3F3A-3761-4F2F-8BA6-C1CA3C6C357B}" type="datetimeFigureOut">
              <a:rPr lang="en-IN" smtClean="0"/>
              <a:t>2024-08-13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A4414-477D-D1A5-B414-8E0F0FF80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C05AA-F783-2D5F-EEC0-F534F56D11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04E8B-FB1D-4EE6-8710-4F17DE037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19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E9435-5A6C-FC74-7286-DA7E14EE78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Capstone Rides </a:t>
            </a:r>
            <a:r>
              <a:rPr lang="en-IN" sz="440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97167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53568-4D6A-F5F1-ADE5-390C8F0E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0070C0"/>
                </a:solidFill>
              </a:rPr>
              <a:t>Objective</a:t>
            </a:r>
            <a:endParaRPr lang="en-IN" sz="6000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EEACA-4849-B57A-78BC-31F80A351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RIDE IT</a:t>
            </a: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the multi-service mobility company.</a:t>
            </a:r>
          </a:p>
          <a:p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Objective is to draw insights to identify trends and patterns and find the key metrics from the provided data to propose better driver’s engagement.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89524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E9291-D460-0FF3-1F68-6D9302CDE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accent4"/>
                </a:solidFill>
              </a:rPr>
              <a:t>Exploratory data analysis</a:t>
            </a:r>
            <a:endParaRPr lang="en-IN" sz="60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A038C-45BA-CBA4-60DB-17D55C044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We have data for two countries Germany(DE) and Spain(ES</a:t>
            </a:r>
            <a:r>
              <a:rPr lang="en-US" sz="2000" dirty="0"/>
              <a:t>).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Total: </a:t>
            </a:r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36972 drivers.</a:t>
            </a:r>
          </a:p>
          <a:p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PHV: 5,651(15.28%) and TAXI: 31,321(84.72%).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Over 71% drivers have chosen marketing notifications from DE and ES.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23,505(63.58%) drivers are into gold level.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Top 10 gold level drivers are from Germany(DE).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Germany has highest rides %.</a:t>
            </a:r>
          </a:p>
          <a:p>
            <a:endParaRPr lang="en-US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80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2EBF8-8762-4941-EAB8-F6CCDB302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accent4"/>
                </a:solidFill>
              </a:rPr>
              <a:t>Trends and Insights</a:t>
            </a:r>
            <a:endParaRPr lang="en-IN" sz="6000" dirty="0">
              <a:solidFill>
                <a:schemeClr val="accent4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DEC36B-2661-3B58-1774-3297CD10D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Almost 85% drivers have chosen taxi.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Mostly Tue, wed, Thursdays are with high demand.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20-30%  offers  are converted to rides.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But almost 82% of bookings are into rides</a:t>
            </a:r>
            <a:r>
              <a:rPr lang="en-US" sz="2000" dirty="0"/>
              <a:t>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Sat and Sunday’s  have seen highest rides ratio.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Only Germany drivers opted to PHV Services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E0E621-8057-927E-BB55-A6A95BB85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574" y="1717967"/>
            <a:ext cx="4222990" cy="21461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3B64A6-A6E6-1D3A-8395-38E4ED5E1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381" y="3971735"/>
            <a:ext cx="4696358" cy="27606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C4A0D4-9B78-A1A7-83A2-E7D5F4185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39" y="4274480"/>
            <a:ext cx="5257800" cy="246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01C76-23F8-3B1C-30BC-B2133490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accent4"/>
                </a:solidFill>
              </a:rPr>
              <a:t>Trends and Patterns</a:t>
            </a:r>
            <a:endParaRPr lang="en-IN" sz="60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7445D-3F6E-1013-CE8B-D0FCAE511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658"/>
            <a:ext cx="10515600" cy="5537342"/>
          </a:xfrm>
        </p:spPr>
        <p:txBody>
          <a:bodyPr/>
          <a:lstStyle/>
          <a:p>
            <a:endParaRPr lang="en-US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Quick rides % drop from 2019(28.46%) to 2020(8.79%)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    May be due to covid 19.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Lowest rides are in 2011.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Almost 99% drivers are in top ratings indicates a good sign.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Only 10 drivers are with less ratings.</a:t>
            </a:r>
          </a:p>
          <a:p>
            <a:endParaRPr lang="en-US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72879-46F1-3D75-3791-911251EC1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797" y="1320658"/>
            <a:ext cx="4883908" cy="2214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8124FB-ECBF-AA00-56B8-9DF8C70A5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75" y="3534772"/>
            <a:ext cx="4883908" cy="316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94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6275-F6C0-3092-EBC0-7519801E3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dirty="0">
                <a:solidFill>
                  <a:schemeClr val="accent4"/>
                </a:solidFill>
              </a:rPr>
              <a:t>Bookings and Cancellation Trends</a:t>
            </a:r>
            <a:endParaRPr lang="en-IN" sz="60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A30AE-F347-D714-B6F7-E735E27F8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0028"/>
            <a:ext cx="10515600" cy="4834482"/>
          </a:xfrm>
        </p:spPr>
        <p:txBody>
          <a:bodyPr/>
          <a:lstStyle/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Passengers cancellations are more compared to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    drivers cancellation.</a:t>
            </a:r>
          </a:p>
          <a:p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Weekend cancellations are more compared to weekdays.</a:t>
            </a:r>
          </a:p>
          <a:p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June and July have seen less bookings.</a:t>
            </a:r>
          </a:p>
          <a:p>
            <a:r>
              <a:rPr lang="en-IN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Jan and Nov have highest bookings record.</a:t>
            </a:r>
          </a:p>
          <a:p>
            <a:endParaRPr lang="en-IN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3A7317-3B52-BE7B-0360-9281B222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516" y="1788094"/>
            <a:ext cx="5486400" cy="2499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C222F0-4B43-87E3-45C4-6DA9ADA26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541" y="4422206"/>
            <a:ext cx="5236375" cy="244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2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7B2B-5352-E060-E3E0-2D496B8E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accent4"/>
                </a:solidFill>
              </a:rPr>
              <a:t>Top Drivers</a:t>
            </a:r>
            <a:endParaRPr lang="en-IN" sz="60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1E9FA-BDE0-7242-5F3F-F8C2B71C1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These are top 10 drivers in gold level count.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We can see all are from Germany.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Few Drivers rides both taxi and PHV.</a:t>
            </a:r>
          </a:p>
          <a:p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Driver with highest rides count not into gold level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Times New Roman" panose="02020603050405020304" pitchFamily="18" charset="0"/>
              </a:rPr>
              <a:t>     count.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7BFF6-36C6-69A7-729E-5847B35FA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39727"/>
            <a:ext cx="5472753" cy="27530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665C394-8F40-93B4-79FC-597D896FF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87" y="4482683"/>
            <a:ext cx="5472753" cy="236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8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4ABA-DC91-2EC3-7752-99CFFAB6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accent4"/>
                </a:solidFill>
              </a:rPr>
              <a:t>Recommendations</a:t>
            </a:r>
            <a:endParaRPr lang="en-IN" sz="60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52E7B-F65B-C817-38AC-DE1F42163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Connect with drivers with less ratings to find out the challenges and resolve accordingly.</a:t>
            </a:r>
          </a:p>
          <a:p>
            <a:r>
              <a:rPr lang="en-US" sz="2000" dirty="0"/>
              <a:t>Reward the drivers with more ratings for boosting to maintain consistent rides.</a:t>
            </a:r>
          </a:p>
          <a:p>
            <a:r>
              <a:rPr lang="en-US" sz="2000" dirty="0"/>
              <a:t>Motivate the drivers for opting marketing services and let them know the benefits among them.</a:t>
            </a:r>
          </a:p>
          <a:p>
            <a:r>
              <a:rPr lang="en-US" sz="2000" dirty="0"/>
              <a:t>Campaign in Spain for more drivers as we see less driver count in Spain.</a:t>
            </a:r>
          </a:p>
          <a:p>
            <a:r>
              <a:rPr lang="en-US" sz="2000" dirty="0"/>
              <a:t>Connect with the drivers with highest rides and not into gold level count to know the challenges.</a:t>
            </a:r>
          </a:p>
          <a:p>
            <a:r>
              <a:rPr lang="en-US" sz="2000" dirty="0"/>
              <a:t>Offer seasonal rewards for drivers to be more active on weekends and Occasionals.</a:t>
            </a:r>
          </a:p>
          <a:p>
            <a:r>
              <a:rPr lang="en-US" sz="2000" dirty="0"/>
              <a:t>Take behavioral sessions for drivers if required for better user interaction.</a:t>
            </a:r>
          </a:p>
          <a:p>
            <a:r>
              <a:rPr lang="en-US" sz="2000" dirty="0"/>
              <a:t>Make strict cancellation policies to avoid more cancellations.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3386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C0ECA-A39D-6CDE-DE96-B0BCC03BC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b="1" i="1" dirty="0"/>
          </a:p>
          <a:p>
            <a:pPr marL="0" indent="0" algn="ctr">
              <a:buNone/>
            </a:pPr>
            <a:endParaRPr lang="en-US" b="1" i="1" dirty="0"/>
          </a:p>
          <a:p>
            <a:pPr marL="0" indent="0" algn="ctr">
              <a:buNone/>
            </a:pPr>
            <a:endParaRPr lang="en-US" b="1" i="1" dirty="0"/>
          </a:p>
          <a:p>
            <a:pPr marL="0" indent="0" algn="ctr">
              <a:buNone/>
            </a:pPr>
            <a:r>
              <a:rPr lang="en-US" sz="6600" b="1" i="1" dirty="0"/>
              <a:t>Thank you</a:t>
            </a:r>
            <a:endParaRPr lang="en-IN" sz="6600" b="1" i="1" dirty="0"/>
          </a:p>
        </p:txBody>
      </p:sp>
    </p:spTree>
    <p:extLst>
      <p:ext uri="{BB962C8B-B14F-4D97-AF65-F5344CB8AC3E}">
        <p14:creationId xmlns:p14="http://schemas.microsoft.com/office/powerpoint/2010/main" val="4187332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1898</TotalTime>
  <Words>405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Capstone Rides Data Analysis</vt:lpstr>
      <vt:lpstr>Objective</vt:lpstr>
      <vt:lpstr>Exploratory data analysis</vt:lpstr>
      <vt:lpstr>Trends and Insights</vt:lpstr>
      <vt:lpstr>Trends and Patterns</vt:lpstr>
      <vt:lpstr>Bookings and Cancellation Trends</vt:lpstr>
      <vt:lpstr>Top Drivers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5</cp:revision>
  <dcterms:created xsi:type="dcterms:W3CDTF">2024-08-11T11:42:37Z</dcterms:created>
  <dcterms:modified xsi:type="dcterms:W3CDTF">2024-08-13T16:47:00Z</dcterms:modified>
</cp:coreProperties>
</file>